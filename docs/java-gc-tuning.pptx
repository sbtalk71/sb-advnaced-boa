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52B36"/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548640"/>
            <a:ext cx="2377440" cy="1234440"/>
          </a:xfrm>
          <a:prstGeom prst="rect">
            <a:avLst>
              <a:gd name="adj" fmla="val 5926"/>
            </a:avLst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1965960"/>
            <a:ext cx="2377440" cy="1234440"/>
          </a:xfrm>
          <a:prstGeom prst="rect">
            <a:avLst>
              <a:gd name="adj" fmla="val 5926"/>
            </a:avLst>
          </a:prstGeom>
          <a:solidFill>
            <a:srgbClr val="C8811A"/>
          </a:solidFill>
          <a:ln/>
        </p:spPr>
      </p:sp>
      <p:sp>
        <p:nvSpPr>
          <p:cNvPr id="5" name="Shape 3"/>
          <p:cNvSpPr/>
          <p:nvPr/>
        </p:nvSpPr>
        <p:spPr>
          <a:xfrm>
            <a:off x="9281160" y="3383280"/>
            <a:ext cx="2377440" cy="1234440"/>
          </a:xfrm>
          <a:prstGeom prst="rect">
            <a:avLst>
              <a:gd name="adj" fmla="val 5926"/>
            </a:avLst>
          </a:prstGeom>
          <a:solidFill>
            <a:srgbClr val="3B5BA5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4800600"/>
            <a:ext cx="2377440" cy="1234440"/>
          </a:xfrm>
          <a:prstGeom prst="rect">
            <a:avLst>
              <a:gd name="adj" fmla="val 5926"/>
            </a:avLst>
          </a:prstGeom>
          <a:solidFill>
            <a:srgbClr val="8FA8D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PERFORMANCE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Garbage Collection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anatomy, generational collection, collector selection, and the flags that actually move pause time and throughput.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0584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Serial GC to ZGC — what to run, and how to tune 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65960"/>
            <a:ext cx="685800" cy="6858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6" name="Image 0" descr="/home/claude/gc-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305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Layout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13055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JVM divides heap into Eden, Survivor and Old regions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49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965960"/>
            <a:ext cx="685800" cy="6858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1" name="Image 1" descr="/home/claude/gc-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05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64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Model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13055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objects are grouped by age, and how promotion works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349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657600"/>
            <a:ext cx="685800" cy="6858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6" name="Image 2" descr="/home/claude/gc-deck/icons/r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221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382219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mark, sweep and compact cycle that reclaims memory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291840"/>
            <a:ext cx="5349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3657600"/>
            <a:ext cx="685800" cy="6858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21" name="Image 3" descr="/home/claude/gc-deck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82219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Collectors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82219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Serial, Parallel and CMS — and how to enable each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5349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5349240"/>
            <a:ext cx="685800" cy="6858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26" name="Image 4" descr="/home/claude/gc-deck/icons/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51383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148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Collectors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551383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G1, ZGC and Shenandoah — low-pause collection at scale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4983480"/>
            <a:ext cx="5349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5349240"/>
            <a:ext cx="685800" cy="68580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31" name="Image 5" descr="/home/claude/gc-deck/icons/slid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51383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51480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Tuning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69480" y="551383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Sizing, pause-time goals and the flags that matter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 LAYOUT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the JVM Heap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heap is split into generations so the collector can apply cheap, frequent passes to short-lived objects and rarer, heavier passes to long-lived 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3291840"/>
          </a:xfrm>
          <a:prstGeom prst="rect">
            <a:avLst>
              <a:gd name="adj" fmla="val 1667"/>
            </a:avLst>
          </a:prstGeom>
          <a:solidFill>
            <a:srgbClr val="F2F4F7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09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MEMORY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6035040" cy="2377440"/>
          </a:xfrm>
          <a:prstGeom prst="rect">
            <a:avLst>
              <a:gd name="adj" fmla="val 1923"/>
            </a:avLst>
          </a:prstGeom>
          <a:solidFill>
            <a:srgbClr val="FDF1DD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03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GENERATION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1560" y="2834640"/>
            <a:ext cx="2863901" cy="1828800"/>
          </a:xfrm>
          <a:prstGeom prst="rect">
            <a:avLst>
              <a:gd name="adj" fmla="val 2000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29000"/>
            <a:ext cx="28639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Space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749040"/>
            <a:ext cx="286390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objects allocated 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44061" y="2834640"/>
            <a:ext cx="1242670" cy="1828800"/>
          </a:xfrm>
          <a:prstGeom prst="rect">
            <a:avLst>
              <a:gd name="adj" fmla="val 2943"/>
            </a:avLst>
          </a:prstGeom>
          <a:solidFill>
            <a:srgbClr val="8FA8D9"/>
          </a:solidFill>
          <a:ln/>
        </p:spPr>
      </p:sp>
      <p:sp>
        <p:nvSpPr>
          <p:cNvPr id="13" name="Text 11"/>
          <p:cNvSpPr/>
          <p:nvPr/>
        </p:nvSpPr>
        <p:spPr>
          <a:xfrm>
            <a:off x="4144061" y="3383280"/>
            <a:ext cx="12426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15330" y="2834640"/>
            <a:ext cx="1242670" cy="1828800"/>
          </a:xfrm>
          <a:prstGeom prst="rect">
            <a:avLst>
              <a:gd name="adj" fmla="val 2943"/>
            </a:avLst>
          </a:prstGeom>
          <a:solidFill>
            <a:srgbClr val="3B5BA5"/>
          </a:solidFill>
          <a:ln/>
        </p:spPr>
      </p:sp>
      <p:sp>
        <p:nvSpPr>
          <p:cNvPr id="15" name="Text 13"/>
          <p:cNvSpPr/>
          <p:nvPr/>
        </p:nvSpPr>
        <p:spPr>
          <a:xfrm>
            <a:off x="5615330" y="3383280"/>
            <a:ext cx="124267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67728" y="3538728"/>
            <a:ext cx="457200" cy="32918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6876288" y="38862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43800" y="2514600"/>
            <a:ext cx="3794760" cy="2377440"/>
          </a:xfrm>
          <a:prstGeom prst="rect">
            <a:avLst>
              <a:gd name="adj" fmla="val 1923"/>
            </a:avLst>
          </a:prstGeom>
          <a:solidFill>
            <a:srgbClr val="1B1F27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2461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GENERATION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(Tenured)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38404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Long-lived, surviving objects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605272"/>
            <a:ext cx="11064240" cy="502920"/>
          </a:xfrm>
          <a:prstGeom prst="rect">
            <a:avLst>
              <a:gd name="adj" fmla="val 9091"/>
            </a:avLst>
          </a:prstGeom>
          <a:solidFill>
            <a:srgbClr val="E7E9ED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60527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METASPACE  —  class metadata, stored in native memory (off-heap, replaced PermGen since Java 8)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JVM groups objects by 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weak generational hypothesis: most objects die young. Splitting the heap lets the collector scan a small, high-mortality region often, and a large, low-mortality region rarely.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4160520"/>
          </a:xfrm>
          <a:prstGeom prst="rect">
            <a:avLst>
              <a:gd name="adj" fmla="val 1519"/>
            </a:avLst>
          </a:prstGeom>
          <a:solidFill>
            <a:srgbClr val="F2A93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B1F27"/>
          </a:solidFill>
          <a:ln/>
        </p:spPr>
      </p:sp>
      <p:pic>
        <p:nvPicPr>
          <p:cNvPr id="7" name="Image 0" descr="/home/claude/gc-deck/icons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3938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Generation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3602736"/>
            <a:ext cx="73152" cy="73152"/>
          </a:xfrm>
          <a:prstGeom prst="ellipse">
            <a:avLst/>
          </a:prstGeom>
          <a:solidFill>
            <a:srgbClr val="1B1F27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34655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+ two Survivor spaces (S0/S1)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1248" y="4242816"/>
            <a:ext cx="73152" cy="73152"/>
          </a:xfrm>
          <a:prstGeom prst="ellipse">
            <a:avLst/>
          </a:prstGeom>
          <a:solidFill>
            <a:srgbClr val="1B1F27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4105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a Minor GC — fast, frequent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41248" y="4882896"/>
            <a:ext cx="73152" cy="73152"/>
          </a:xfrm>
          <a:prstGeom prst="ellipse">
            <a:avLst/>
          </a:prstGeom>
          <a:solidFill>
            <a:srgbClr val="1B1F27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474573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copying algorithm between survivor spaces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41248" y="5522976"/>
            <a:ext cx="73152" cy="73152"/>
          </a:xfrm>
          <a:prstGeom prst="ellipse">
            <a:avLst/>
          </a:prstGeom>
          <a:solidFill>
            <a:srgbClr val="1B1F27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53858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surviving enough cycles are promoted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89120" y="1965960"/>
            <a:ext cx="3611880" cy="4160520"/>
          </a:xfrm>
          <a:prstGeom prst="rect">
            <a:avLst>
              <a:gd name="adj" fmla="val 1519"/>
            </a:avLst>
          </a:prstGeom>
          <a:solidFill>
            <a:srgbClr val="3B5BA5"/>
          </a:solidFill>
          <a:ln/>
        </p:spPr>
      </p:sp>
      <p:sp>
        <p:nvSpPr>
          <p:cNvPr id="18" name="Shape 15"/>
          <p:cNvSpPr/>
          <p:nvPr/>
        </p:nvSpPr>
        <p:spPr>
          <a:xfrm>
            <a:off x="4663440" y="224028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9" name="Image 1" descr="/home/claude/gc-dec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059" y="2393899"/>
            <a:ext cx="332842" cy="33284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63440" y="3017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Generation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4681728" y="360273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4864608" y="34655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long-lived, promoted objects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81728" y="424281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4864608" y="4105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a Major / Full GC — slower, rarer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681728" y="488289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4864608" y="474573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mark-sweep-compact algorithms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681728" y="55229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4864608" y="53858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larger; growth signals a memory leak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229600" y="1965960"/>
            <a:ext cx="3611880" cy="4160520"/>
          </a:xfrm>
          <a:prstGeom prst="rect">
            <a:avLst>
              <a:gd name="adj" fmla="val 1519"/>
            </a:avLst>
          </a:prstGeom>
          <a:solidFill>
            <a:srgbClr val="1B1F27"/>
          </a:solidFill>
          <a:ln/>
        </p:spPr>
      </p:sp>
      <p:sp>
        <p:nvSpPr>
          <p:cNvPr id="30" name="Shape 26"/>
          <p:cNvSpPr/>
          <p:nvPr/>
        </p:nvSpPr>
        <p:spPr>
          <a:xfrm>
            <a:off x="8503920" y="2240280"/>
            <a:ext cx="640080" cy="64008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31" name="Image 2" descr="/home/claude/gc-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39" y="2393899"/>
            <a:ext cx="332842" cy="33284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503920" y="30175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Metaspace</a:t>
            </a:r>
            <a:endParaRPr lang="en-US" sz="1700" dirty="0"/>
          </a:p>
        </p:txBody>
      </p:sp>
      <p:sp>
        <p:nvSpPr>
          <p:cNvPr id="33" name="Shape 28"/>
          <p:cNvSpPr/>
          <p:nvPr/>
        </p:nvSpPr>
        <p:spPr>
          <a:xfrm>
            <a:off x="8522208" y="360273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29"/>
          <p:cNvSpPr/>
          <p:nvPr/>
        </p:nvSpPr>
        <p:spPr>
          <a:xfrm>
            <a:off x="8705088" y="34655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class metadata &amp; method info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522208" y="424281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1"/>
          <p:cNvSpPr/>
          <p:nvPr/>
        </p:nvSpPr>
        <p:spPr>
          <a:xfrm>
            <a:off x="8705088" y="41056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native (off-heap) memory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8522208" y="488289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8705088" y="474573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dynamically, cap with -XX:MaxMetaspaceSize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522208" y="5522976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5"/>
          <p:cNvSpPr/>
          <p:nvPr/>
        </p:nvSpPr>
        <p:spPr>
          <a:xfrm>
            <a:off x="8705088" y="53858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PermGen entirely since Java 8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Garbage Collection?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memory management performed by the JVM: it identifies objects that are no longer reachable from GC roots and reclaims their memory — without manual free().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29000" cy="3566160"/>
          </a:xfrm>
          <a:prstGeom prst="rect">
            <a:avLst>
              <a:gd name="adj" fmla="val 1867"/>
            </a:avLst>
          </a:prstGeom>
          <a:solidFill>
            <a:srgbClr val="252B36"/>
          </a:solidFill>
          <a:ln/>
        </p:spPr>
      </p:sp>
      <p:sp>
        <p:nvSpPr>
          <p:cNvPr id="6" name="Shape 4"/>
          <p:cNvSpPr/>
          <p:nvPr/>
        </p:nvSpPr>
        <p:spPr>
          <a:xfrm>
            <a:off x="185166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gc-deck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9170" y="27121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566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object graph from GC roots (stack, statics, registers) and flag every reachable object as live.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05072" y="3840480"/>
            <a:ext cx="27432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297680" y="2148840"/>
            <a:ext cx="3429000" cy="3566160"/>
          </a:xfrm>
          <a:prstGeom prst="rect">
            <a:avLst>
              <a:gd name="adj" fmla="val 1867"/>
            </a:avLst>
          </a:prstGeom>
          <a:solidFill>
            <a:srgbClr val="252B36"/>
          </a:solidFill>
          <a:ln/>
        </p:spPr>
      </p:sp>
      <p:sp>
        <p:nvSpPr>
          <p:cNvPr id="13" name="Shape 10"/>
          <p:cNvSpPr/>
          <p:nvPr/>
        </p:nvSpPr>
        <p:spPr>
          <a:xfrm>
            <a:off x="560070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1" descr="/home/claude/gc-deck/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210" y="271211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3566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97680" y="3840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7200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heap and reclaim memory occupied by objects that were never marked — they're unreachable garbage.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54112" y="3840480"/>
            <a:ext cx="274320" cy="27432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0" y="2148840"/>
            <a:ext cx="3429000" cy="3566160"/>
          </a:xfrm>
          <a:prstGeom prst="rect">
            <a:avLst>
              <a:gd name="adj" fmla="val 1867"/>
            </a:avLst>
          </a:prstGeom>
          <a:solidFill>
            <a:srgbClr val="252B36"/>
          </a:solidFill>
          <a:ln/>
        </p:spPr>
      </p:sp>
      <p:sp>
        <p:nvSpPr>
          <p:cNvPr id="20" name="Shape 16"/>
          <p:cNvSpPr/>
          <p:nvPr/>
        </p:nvSpPr>
        <p:spPr>
          <a:xfrm>
            <a:off x="9349740" y="2514600"/>
            <a:ext cx="822960" cy="8229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2" descr="/home/claude/gc-deck/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250" y="2712110"/>
            <a:ext cx="427939" cy="42793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46720" y="3566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046720" y="38404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321040" y="438912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surviving objects together to eliminate fragmentation, leaving one contiguous free region.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throughput and minimize pause time while keeping the application's live-object working set intact.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COLLECTORS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Garbage Collectors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81328"/>
          </a:xfrm>
          <a:prstGeom prst="rect">
            <a:avLst>
              <a:gd name="adj" fmla="val 3086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60804"/>
            <a:ext cx="777240" cy="77724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6" name="Image 0" descr="/home/claude/gc-deck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047342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55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GC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783080" y="224028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for both minor &amp; major GC; stop-the-world. Best for small heaps (&lt;100MB) and single-core environments.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1837944"/>
            <a:ext cx="4251960" cy="822960"/>
          </a:xfrm>
          <a:prstGeom prst="rect">
            <a:avLst>
              <a:gd name="adj" fmla="val 5556"/>
            </a:avLst>
          </a:prstGeom>
          <a:solidFill>
            <a:srgbClr val="1B1F27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183794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-XX:+UseSerialGC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11064240" cy="1481328"/>
          </a:xfrm>
          <a:prstGeom prst="rect">
            <a:avLst>
              <a:gd name="adj" fmla="val 3086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506724"/>
            <a:ext cx="777240" cy="77724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4" name="Image 1" descr="/home/claude/gc-deck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3693262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33009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GC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78308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THROUGHPUT-FOCUSED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783080" y="388620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threads collect in parallel, still stop-the-world. Default in Java 8; maximizes total throughput over latency.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78040" y="3483864"/>
            <a:ext cx="4251960" cy="822960"/>
          </a:xfrm>
          <a:prstGeom prst="rect">
            <a:avLst>
              <a:gd name="adj" fmla="val 5556"/>
            </a:avLst>
          </a:prstGeom>
          <a:solidFill>
            <a:srgbClr val="1B1F27"/>
          </a:solidFill>
          <a:ln/>
        </p:spPr>
      </p:sp>
      <p:sp>
        <p:nvSpPr>
          <p:cNvPr id="19" name="Text 15"/>
          <p:cNvSpPr/>
          <p:nvPr/>
        </p:nvSpPr>
        <p:spPr>
          <a:xfrm>
            <a:off x="7360920" y="348386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-XX:+UseParallelGC  -XX:ParallelGCThreads=N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800600"/>
            <a:ext cx="11064240" cy="1481328"/>
          </a:xfrm>
          <a:prstGeom prst="rect">
            <a:avLst>
              <a:gd name="adj" fmla="val 3086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" y="5152644"/>
            <a:ext cx="777240" cy="77724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22" name="Image 2" descr="/home/claude/gc-dec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5339182"/>
            <a:ext cx="404165" cy="4041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83080" y="49469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(Concurrent Mark Sweep)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783080" y="5257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(REMOVED JDK 14)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783080" y="553212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old-gen collection to cut pause time; no compaction phase, so it suffers fragmentation. Superseded by G1.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178040" y="5129784"/>
            <a:ext cx="4251960" cy="822960"/>
          </a:xfrm>
          <a:prstGeom prst="rect">
            <a:avLst>
              <a:gd name="adj" fmla="val 5556"/>
            </a:avLst>
          </a:prstGeom>
          <a:solidFill>
            <a:srgbClr val="1B1F27"/>
          </a:solidFill>
          <a:ln/>
        </p:spPr>
      </p:sp>
      <p:sp>
        <p:nvSpPr>
          <p:cNvPr id="27" name="Text 22"/>
          <p:cNvSpPr/>
          <p:nvPr/>
        </p:nvSpPr>
        <p:spPr>
          <a:xfrm>
            <a:off x="7360920" y="512978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-XX:+UseConcMarkSweepGC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COLLECTORS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Garbage Collectors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81328"/>
          </a:xfrm>
          <a:prstGeom prst="rect">
            <a:avLst>
              <a:gd name="adj" fmla="val 3086"/>
            </a:avLst>
          </a:prstGeom>
          <a:solidFill>
            <a:srgbClr val="FDF1DD"/>
          </a:solidFill>
          <a:ln w="12700">
            <a:solidFill>
              <a:srgbClr val="F5DD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60804"/>
            <a:ext cx="777240" cy="777240"/>
          </a:xfrm>
          <a:prstGeom prst="ellipse">
            <a:avLst/>
          </a:prstGeom>
          <a:solidFill>
            <a:srgbClr val="C8811A"/>
          </a:solidFill>
          <a:ln/>
        </p:spPr>
      </p:sp>
      <p:pic>
        <p:nvPicPr>
          <p:cNvPr id="6" name="Image 0" descr="/home/claude/gc-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047342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550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GC (Garbage First)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SINCE JAVA 9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783080" y="224028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heap into equal-sized regions; concurrently prioritizes collecting regions with the most garbage first, to hit a pause-time goal.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1837944"/>
            <a:ext cx="4251960" cy="822960"/>
          </a:xfrm>
          <a:prstGeom prst="rect">
            <a:avLst>
              <a:gd name="adj" fmla="val 5556"/>
            </a:avLst>
          </a:prstGeom>
          <a:solidFill>
            <a:srgbClr val="1B1F27"/>
          </a:solidFill>
          <a:ln/>
        </p:spPr>
      </p:sp>
      <p:sp>
        <p:nvSpPr>
          <p:cNvPr id="11" name="Text 8"/>
          <p:cNvSpPr/>
          <p:nvPr/>
        </p:nvSpPr>
        <p:spPr>
          <a:xfrm>
            <a:off x="7360920" y="183794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-XX:+UseG1GC  -XX:MaxGCPauseMillis=200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11064240" cy="1481328"/>
          </a:xfrm>
          <a:prstGeom prst="rect">
            <a:avLst>
              <a:gd name="adj" fmla="val 3086"/>
            </a:avLst>
          </a:prstGeom>
          <a:solidFill>
            <a:srgbClr val="FDF1DD"/>
          </a:solidFill>
          <a:ln w="12700">
            <a:solidFill>
              <a:srgbClr val="F5DDA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506724"/>
            <a:ext cx="777240" cy="777240"/>
          </a:xfrm>
          <a:prstGeom prst="ellipse">
            <a:avLst/>
          </a:prstGeom>
          <a:solidFill>
            <a:srgbClr val="C8811A"/>
          </a:solidFill>
          <a:ln/>
        </p:spPr>
      </p:sp>
      <p:pic>
        <p:nvPicPr>
          <p:cNvPr id="14" name="Image 1" descr="/home/claude/gc-deck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3693262"/>
            <a:ext cx="404165" cy="4041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33009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ZGC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78308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783080" y="388620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concurrent, region-based, colored pointers. Sub-millisecond pauses independent of heap size — scales to multi-terabyte heaps.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178040" y="3483864"/>
            <a:ext cx="4251960" cy="822960"/>
          </a:xfrm>
          <a:prstGeom prst="rect">
            <a:avLst>
              <a:gd name="adj" fmla="val 5556"/>
            </a:avLst>
          </a:prstGeom>
          <a:solidFill>
            <a:srgbClr val="1B1F27"/>
          </a:solidFill>
          <a:ln/>
        </p:spPr>
      </p:sp>
      <p:sp>
        <p:nvSpPr>
          <p:cNvPr id="19" name="Text 15"/>
          <p:cNvSpPr/>
          <p:nvPr/>
        </p:nvSpPr>
        <p:spPr>
          <a:xfrm>
            <a:off x="7360920" y="348386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-XX:+UseZGC  -Xmx16g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800600"/>
            <a:ext cx="11064240" cy="1481328"/>
          </a:xfrm>
          <a:prstGeom prst="rect">
            <a:avLst>
              <a:gd name="adj" fmla="val 3086"/>
            </a:avLst>
          </a:prstGeom>
          <a:solidFill>
            <a:srgbClr val="FDF1DD"/>
          </a:solidFill>
          <a:ln w="12700">
            <a:solidFill>
              <a:srgbClr val="F5DDA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77240" y="5152644"/>
            <a:ext cx="777240" cy="777240"/>
          </a:xfrm>
          <a:prstGeom prst="ellipse">
            <a:avLst/>
          </a:prstGeom>
          <a:solidFill>
            <a:srgbClr val="C8811A"/>
          </a:solidFill>
          <a:ln/>
        </p:spPr>
      </p:sp>
      <p:pic>
        <p:nvPicPr>
          <p:cNvPr id="22" name="Image 2" descr="/home/claude/gc-deck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5339182"/>
            <a:ext cx="404165" cy="4041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83080" y="49469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Shenandoah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783080" y="5257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LOW-PAUSE (OPENJDK)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783080" y="5532120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compaction via Brooks forwarding pointers; pause times stay near-constant as heap grows. Available on OpenJDK builds.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178040" y="5129784"/>
            <a:ext cx="4251960" cy="822960"/>
          </a:xfrm>
          <a:prstGeom prst="rect">
            <a:avLst>
              <a:gd name="adj" fmla="val 5556"/>
            </a:avLst>
          </a:prstGeom>
          <a:solidFill>
            <a:srgbClr val="1B1F27"/>
          </a:solidFill>
          <a:ln/>
        </p:spPr>
      </p:sp>
      <p:sp>
        <p:nvSpPr>
          <p:cNvPr id="27" name="Text 22"/>
          <p:cNvSpPr/>
          <p:nvPr/>
        </p:nvSpPr>
        <p:spPr>
          <a:xfrm>
            <a:off x="7360920" y="512978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-XX:+UseShenandoahGC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collector, and when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94560" cy="502920"/>
          </a:xfrm>
          <a:prstGeom prst="rect">
            <a:avLst/>
          </a:prstGeom>
          <a:solidFill>
            <a:srgbClr val="1B1F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2377440" cy="502920"/>
          </a:xfrm>
          <a:prstGeom prst="rect">
            <a:avLst/>
          </a:prstGeom>
          <a:solidFill>
            <a:srgbClr val="1B1F2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554480"/>
            <a:ext cx="2011680" cy="502920"/>
          </a:xfrm>
          <a:prstGeom prst="rect">
            <a:avLst/>
          </a:prstGeom>
          <a:solidFill>
            <a:srgbClr val="1B1F27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554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1554480"/>
            <a:ext cx="4480560" cy="502920"/>
          </a:xfrm>
          <a:prstGeom prst="rect">
            <a:avLst/>
          </a:prstGeom>
          <a:solidFill>
            <a:srgbClr val="1B1F27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554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0" y="2057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20640" y="20574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0" y="20574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heaps, single-core, client apps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solidFill>
            <a:srgbClr val="EFF2F6"/>
          </a:solidFill>
          <a:ln w="6350">
            <a:solidFill>
              <a:srgbClr val="E0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0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2743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0" y="2743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jobs, throughput-critical services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29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0" y="34290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(tunable)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20640" y="3429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0" y="34290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default, mixed workloads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11064240" cy="685800"/>
          </a:xfrm>
          <a:prstGeom prst="rect">
            <a:avLst/>
          </a:prstGeom>
          <a:solidFill>
            <a:srgbClr val="EFF2F6"/>
          </a:solidFill>
          <a:ln w="6350">
            <a:solidFill>
              <a:srgbClr val="E0E4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14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0" y="41148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120640" y="41148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0" y="4114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heaps, strict latency SLAs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006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Shenandoah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743200" y="4800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120640" y="48006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15200" y="48006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Low-pause needs on OpenJDK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Tuning: Heap Sizing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lever. Undersized heaps cause frequent GC and CPU churn; oversized heaps cause long pauses when they finally do collect.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713232"/>
          </a:xfrm>
          <a:prstGeom prst="rect">
            <a:avLst>
              <a:gd name="adj" fmla="val 6410"/>
            </a:avLst>
          </a:prstGeom>
          <a:solidFill>
            <a:srgbClr val="1B1F2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-Xms&lt;size&gt;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43400" y="2011680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heap size. Set equal to -Xmx in production to avoid resize pauses.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3566160" cy="713232"/>
          </a:xfrm>
          <a:prstGeom prst="rect">
            <a:avLst>
              <a:gd name="adj" fmla="val 6410"/>
            </a:avLst>
          </a:prstGeom>
          <a:solidFill>
            <a:srgbClr val="1B1F2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5292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-Xmx&lt;size&gt;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2852928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heap size. Cap based on available container/host memory, leaving room for native &amp; Metaspace.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3566160" cy="713232"/>
          </a:xfrm>
          <a:prstGeom prst="rect">
            <a:avLst>
              <a:gd name="adj" fmla="val 6410"/>
            </a:avLst>
          </a:prstGeom>
          <a:solidFill>
            <a:srgbClr val="1B1F2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69417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-XX:NewRatio=N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3694176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Old-to-Young generation ratio. Lower it to give the young gen more room for allocation-heavy apps.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3566160" cy="713232"/>
          </a:xfrm>
          <a:prstGeom prst="rect">
            <a:avLst>
              <a:gd name="adj" fmla="val 6410"/>
            </a:avLst>
          </a:prstGeom>
          <a:solidFill>
            <a:srgbClr val="1B1F2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3542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-XX:SurvivorRatio=N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43400" y="4535424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Eden-to-Survivor ratio within young gen. Tune to reduce premature promotion.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76672"/>
            <a:ext cx="3566160" cy="713232"/>
          </a:xfrm>
          <a:prstGeom prst="rect">
            <a:avLst>
              <a:gd name="adj" fmla="val 6410"/>
            </a:avLst>
          </a:prstGeom>
          <a:solidFill>
            <a:srgbClr val="1B1F27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376672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-XX:MaxMetaspaceSize=&lt;size&gt;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5376672"/>
            <a:ext cx="7269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native metadata memory — prevents unbounded class-loading growth from starving the host.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Tuning: Pause Time vs. Throughput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tuning decision trades one against the other. Pick the goal that matches the SLA, then tune the collector to hit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749040"/>
          </a:xfrm>
          <a:prstGeom prst="rect">
            <a:avLst>
              <a:gd name="adj" fmla="val 1707"/>
            </a:avLst>
          </a:prstGeom>
          <a:solidFill>
            <a:srgbClr val="252B3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7" name="Image 0" descr="/home/claude/gc-deck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4396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774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Pause Time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200400"/>
            <a:ext cx="4709160" cy="457200"/>
          </a:xfrm>
          <a:prstGeom prst="rect">
            <a:avLst>
              <a:gd name="adj" fmla="val 8000"/>
            </a:avLst>
          </a:prstGeom>
          <a:solidFill>
            <a:srgbClr val="1B1F27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200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-XX:+UseZGC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3776472"/>
            <a:ext cx="4709160" cy="457200"/>
          </a:xfrm>
          <a:prstGeom prst="rect">
            <a:avLst>
              <a:gd name="adj" fmla="val 8000"/>
            </a:avLst>
          </a:prstGeom>
          <a:solidFill>
            <a:srgbClr val="1B1F27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77647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-XX:MaxGCPauseMillis=50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8680" y="4352544"/>
            <a:ext cx="4709160" cy="457200"/>
          </a:xfrm>
          <a:prstGeom prst="rect">
            <a:avLst>
              <a:gd name="adj" fmla="val 8000"/>
            </a:avLst>
          </a:prstGeom>
          <a:solidFill>
            <a:srgbClr val="1B1F27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43525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-XX:+UseG1GC -XX:G1HeapRegionSize=4m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5065776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latency-sensitive APIs, trading order queues, real-time systems.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1965960"/>
            <a:ext cx="5349240" cy="3749040"/>
          </a:xfrm>
          <a:prstGeom prst="rect">
            <a:avLst>
              <a:gd name="adj" fmla="val 1707"/>
            </a:avLst>
          </a:prstGeom>
          <a:solidFill>
            <a:srgbClr val="252B36"/>
          </a:solidFill>
          <a:ln/>
        </p:spPr>
      </p:sp>
      <p:sp>
        <p:nvSpPr>
          <p:cNvPr id="17" name="Shape 14"/>
          <p:cNvSpPr/>
          <p:nvPr/>
        </p:nvSpPr>
        <p:spPr>
          <a:xfrm>
            <a:off x="6583680" y="2286000"/>
            <a:ext cx="640080" cy="64008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8" name="Image 1" descr="/home/claude/gc-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439619"/>
            <a:ext cx="332842" cy="332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60920" y="23774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Throughput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83680" y="3200400"/>
            <a:ext cx="4709160" cy="457200"/>
          </a:xfrm>
          <a:prstGeom prst="rect">
            <a:avLst>
              <a:gd name="adj" fmla="val 8000"/>
            </a:avLst>
          </a:prstGeom>
          <a:solidFill>
            <a:srgbClr val="1B1F27"/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20840" y="3200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B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-XX:+UseParallelGC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583680" y="3776472"/>
            <a:ext cx="4709160" cy="457200"/>
          </a:xfrm>
          <a:prstGeom prst="rect">
            <a:avLst>
              <a:gd name="adj" fmla="val 8000"/>
            </a:avLst>
          </a:prstGeom>
          <a:solidFill>
            <a:srgbClr val="1B1F27"/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20840" y="377647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B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-XX:ParallelGCThreads=8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83680" y="4352544"/>
            <a:ext cx="4709160" cy="457200"/>
          </a:xfrm>
          <a:prstGeom prst="rect">
            <a:avLst>
              <a:gd name="adj" fmla="val 8000"/>
            </a:avLst>
          </a:prstGeom>
          <a:solidFill>
            <a:srgbClr val="1B1F27"/>
          </a:solidFill>
          <a:ln w="9525">
            <a:solidFill>
              <a:srgbClr val="3B5BA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20840" y="43525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B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-XX:GCTimeRatio=19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583680" y="5065776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batch pipelines, ETL jobs, offline data 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Tuning: Monitoring &amp; GC Logs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tune what you cannot see. Always enable structured GC logging before changing a single flag.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914400"/>
          </a:xfrm>
          <a:prstGeom prst="rect">
            <a:avLst>
              <a:gd name="adj" fmla="val 6000"/>
            </a:avLst>
          </a:prstGeom>
          <a:solidFill>
            <a:srgbClr val="1B1F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-Xlog:gc*:file=gc.log:time,uptime,level,tags:filecount=5,filesize=20m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651760" cy="2606040"/>
          </a:xfrm>
          <a:prstGeom prst="rect">
            <a:avLst>
              <a:gd name="adj" fmla="val 1754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7340" y="3319272"/>
            <a:ext cx="594360" cy="5943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9" name="Image 0" descr="/home/claude/gc-deck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986" y="3461918"/>
            <a:ext cx="309067" cy="30906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406908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Flight Recorder (JFR)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3232" y="466344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Low-overhead, production-safe profiling built into the JVM (-XX:+FlightRecorder).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83280" y="3063240"/>
            <a:ext cx="2651760" cy="2606040"/>
          </a:xfrm>
          <a:prstGeom prst="rect">
            <a:avLst>
              <a:gd name="adj" fmla="val 1754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11980" y="3319272"/>
            <a:ext cx="594360" cy="5943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4" name="Image 1" descr="/home/claude/gc-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26" y="3461918"/>
            <a:ext cx="309067" cy="30906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406908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GCViewer / GCEasy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47872" y="466344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gc.log output into pause-time, throughput and allocation-rate charts.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217920" y="3063240"/>
            <a:ext cx="2651760" cy="2606040"/>
          </a:xfrm>
          <a:prstGeom prst="rect">
            <a:avLst>
              <a:gd name="adj" fmla="val 1754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46620" y="3319272"/>
            <a:ext cx="594360" cy="5943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9" name="Image 2" descr="/home/claude/gc-deck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266" y="3461918"/>
            <a:ext cx="309067" cy="30906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2512" y="406908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jstat -gcutil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82512" y="466344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command-line snapshot of generation occupancy and GC counts.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052560" y="3063240"/>
            <a:ext cx="2651760" cy="2606040"/>
          </a:xfrm>
          <a:prstGeom prst="rect">
            <a:avLst>
              <a:gd name="adj" fmla="val 1754"/>
            </a:avLst>
          </a:prstGeom>
          <a:solidFill>
            <a:srgbClr val="F7F8FA"/>
          </a:solidFill>
          <a:ln w="12700">
            <a:solidFill>
              <a:srgbClr val="E5E8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81260" y="3319272"/>
            <a:ext cx="594360" cy="5943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24" name="Image 3" descr="/home/claude/gc-deck/icons/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906" y="3461918"/>
            <a:ext cx="309067" cy="3090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7152" y="406908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JVM metrics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9217152" y="4663440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gc.pause, jvm.memory.used, etc. to Prometheus/Dynatrace dashboards.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 Tuning Checklist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>
              <a:gd name="adj" fmla="val 1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3FA772"/>
          </a:solidFill>
          <a:ln/>
        </p:spPr>
      </p:sp>
      <p:pic>
        <p:nvPicPr>
          <p:cNvPr id="6" name="Image 0" descr="/home/claude/gc-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2743200"/>
            <a:ext cx="82296" cy="82296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259689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-Xms = -Xmx in production to avoid heap resize pauses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584448"/>
            <a:ext cx="82296" cy="82296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43814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flag at a time and measure before/after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4425696"/>
            <a:ext cx="82296" cy="82296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42793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G1 as the default; move to ZGC only if pause SLA demands it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5266944"/>
            <a:ext cx="82296" cy="82296"/>
          </a:xfrm>
          <a:prstGeom prst="ellipse">
            <a:avLst/>
          </a:prstGeom>
          <a:solidFill>
            <a:srgbClr val="3FA772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5120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promotion rate — high promotion signals young gen is undersized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63640" y="1600200"/>
            <a:ext cx="5349240" cy="4480560"/>
          </a:xfrm>
          <a:prstGeom prst="rect">
            <a:avLst>
              <a:gd name="adj" fmla="val 1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1F27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C0483C"/>
          </a:solidFill>
          <a:ln/>
        </p:spPr>
      </p:sp>
      <p:pic>
        <p:nvPicPr>
          <p:cNvPr id="18" name="Image 1" descr="/home/claude/gc-deck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34" y="2006194"/>
            <a:ext cx="285293" cy="28529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0" y="19202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583680" y="2743200"/>
            <a:ext cx="82296" cy="82296"/>
          </a:xfrm>
          <a:prstGeom prst="ellipse">
            <a:avLst/>
          </a:prstGeom>
          <a:solidFill>
            <a:srgbClr val="C0483C"/>
          </a:solidFill>
          <a:ln/>
        </p:spPr>
      </p:sp>
      <p:sp>
        <p:nvSpPr>
          <p:cNvPr id="21" name="Text 17"/>
          <p:cNvSpPr/>
          <p:nvPr/>
        </p:nvSpPr>
        <p:spPr>
          <a:xfrm>
            <a:off x="6793992" y="259689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tune against synthetic benchmarks — use real production traffic patterns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83680" y="3584448"/>
            <a:ext cx="82296" cy="82296"/>
          </a:xfrm>
          <a:prstGeom prst="ellipse">
            <a:avLst/>
          </a:prstGeom>
          <a:solidFill>
            <a:srgbClr val="C0483C"/>
          </a:solidFill>
          <a:ln/>
        </p:spPr>
      </p:sp>
      <p:sp>
        <p:nvSpPr>
          <p:cNvPr id="23" name="Text 19"/>
          <p:cNvSpPr/>
          <p:nvPr/>
        </p:nvSpPr>
        <p:spPr>
          <a:xfrm>
            <a:off x="6793992" y="343814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chase a zero-pause goal at the cost of throughput you don't need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583680" y="4425696"/>
            <a:ext cx="82296" cy="82296"/>
          </a:xfrm>
          <a:prstGeom prst="ellipse">
            <a:avLst/>
          </a:prstGeom>
          <a:solidFill>
            <a:srgbClr val="C0483C"/>
          </a:solidFill>
          <a:ln/>
        </p:spPr>
      </p:sp>
      <p:sp>
        <p:nvSpPr>
          <p:cNvPr id="25" name="Text 21"/>
          <p:cNvSpPr/>
          <p:nvPr/>
        </p:nvSpPr>
        <p:spPr>
          <a:xfrm>
            <a:off x="6793992" y="42793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ignore Metaspace — unbounded class loading can OOM outside the heap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583680" y="5266944"/>
            <a:ext cx="82296" cy="82296"/>
          </a:xfrm>
          <a:prstGeom prst="ellipse">
            <a:avLst/>
          </a:prstGeom>
          <a:solidFill>
            <a:srgbClr val="C0483C"/>
          </a:solidFill>
          <a:ln/>
        </p:spPr>
      </p:sp>
      <p:sp>
        <p:nvSpPr>
          <p:cNvPr id="27" name="Text 23"/>
          <p:cNvSpPr/>
          <p:nvPr/>
        </p:nvSpPr>
        <p:spPr>
          <a:xfrm>
            <a:off x="6793992" y="5120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leave GC logging disabled — you'll be blind during an incident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252B36"/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2743200"/>
            <a:ext cx="1463040" cy="14630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/home/claude/gc-deck/icons/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490" y="3094330"/>
            <a:ext cx="760781" cy="760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8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heap, pick the collector that matches your latency and throughput goals, then measure everything with GC logs before you tune again.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4434840"/>
            <a:ext cx="100584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2026-08-27T00:58:06Z</dcterms:created>
  <dcterms:modified xsi:type="dcterms:W3CDTF">2026-08-27T00:58:06Z</dcterms:modified>
</cp:coreProperties>
</file>