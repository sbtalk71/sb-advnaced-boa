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21C3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21C3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121C32"/>
          </a:solidFill>
          <a:ln/>
        </p:spPr>
      </p:sp>
      <p:pic>
        <p:nvPicPr>
          <p:cNvPr id="5" name="Image 0" descr="/home/claude/deck/icons/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042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Thread-Safety Toolbox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ThreadLocal • AtomicInteger • Lock • Semaphore • CyclicBarrier — and the utilities that back them, with working code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25400">
            <a:solidFill>
              <a:srgbClr val="ED8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tour of java.util.concurrent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" y="2061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" y="2061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4712" y="1819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ThreadLocal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24712" y="22037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Per-thread variable isolation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97880" y="16916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62472" y="2061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6062472" y="2061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19672" y="1819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AtomicInteger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519672" y="22037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atomic operations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2944368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7512" y="33147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33147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24712" y="30723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/ ReentrantLock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24712" y="34564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flexible locking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897880" y="2944368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62472" y="33147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23" name="Text 20"/>
          <p:cNvSpPr/>
          <p:nvPr/>
        </p:nvSpPr>
        <p:spPr>
          <a:xfrm>
            <a:off x="6062472" y="33147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19672" y="30723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519672" y="34564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concurrent access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2920" y="4197096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67512" y="45674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" y="45674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24712" y="4325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CyclicBarrier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124712" y="4709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Synchronizing thread groups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897880" y="4197096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62472" y="45674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33" name="Text 30"/>
          <p:cNvSpPr/>
          <p:nvPr/>
        </p:nvSpPr>
        <p:spPr>
          <a:xfrm>
            <a:off x="6062472" y="45674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519672" y="4325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CountDownLatch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6519672" y="4709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completion signal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02920" y="5449824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67512" y="58201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38" name="Text 35"/>
          <p:cNvSpPr/>
          <p:nvPr/>
        </p:nvSpPr>
        <p:spPr>
          <a:xfrm>
            <a:off x="667512" y="5820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124712" y="5577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 &amp; CompletableFuture</a:t>
            </a:r>
            <a:endParaRPr 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1124712" y="5961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async execution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897880" y="5449824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062472" y="58201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43" name="Text 40"/>
          <p:cNvSpPr/>
          <p:nvPr/>
        </p:nvSpPr>
        <p:spPr>
          <a:xfrm>
            <a:off x="6062472" y="5820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519672" y="5577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ConcurrentHashMap &amp; BlockingQueue</a:t>
            </a:r>
            <a:endParaRPr lang="en-US" sz="1450" dirty="0"/>
          </a:p>
        </p:txBody>
      </p:sp>
      <p:sp>
        <p:nvSpPr>
          <p:cNvPr id="45" name="Text 42"/>
          <p:cNvSpPr/>
          <p:nvPr/>
        </p:nvSpPr>
        <p:spPr>
          <a:xfrm>
            <a:off x="6519672" y="5961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collections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thread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ISOLATION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ThreadLocal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thread its own private copy of a variable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synchronization needed — threads never see each other’s value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internally by a per-Thread map keyed on the ThreadLocal instance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web frameworks for request context, DB connections, date formatters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data (user, locale, transaction) in a thread-per-request server, or any non-thread-safe object (e.g. SimpleDateFormat) reused across a thread pool.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remove() in a finally block on pooled threads — otherwise stale values leak between requests.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ThreadLocal.java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ThreadLocalDemo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final ThreadLocal&lt;Integer&gt; ctx =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ThreadLocal.withInitial(() -&gt; 0);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void handleRequest(int id)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ctx.set(id);                 // per-thread value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process();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ctx.remove();               // avoid leaks in pools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void process()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Thread.currentThread().getName()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" -&gt; " + ctx.get());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ato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LOCK-FREE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AtomicInteger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 int with lock-free, thread-safe operations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CPU-level Compare-And-Swap (CAS) instructions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incrementAndGet(), addAndGet(), compareAndSet() are atomic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cheaper than a lock for simple counters under contention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sequence/ID generators, statistics collectors, and flags shared across threads — anywhere a synchronized block would only protect one primitive.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also: AtomicLong, AtomicBoolean, AtomicReference, LongAdder (better under very high contention).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AtomicCounter.java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java.util.concurrent.atomic.AtomicInteger;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AtomicCounter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AtomicInteger count =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AtomicInteger(0);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increment()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count.incrementAndGet(); // atomic ++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resetIfMax(int max)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count.compareAndSet(max, 0);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AtomicCounter c = new AtomicCounter();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Runnable task = () -&gt;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(int i = 0; i &lt; 1000; i++) c.increment();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safe to run 'task' from many threads at once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EXPLICIT LOCKING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&amp; ReentrantLock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offering more control than synchronized blocks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tryLock() with timeout, and interruptible acquisition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ReentrantLock: same thread can re-acquire without deadlocking itself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ReadWriteLock variant lets many readers run concurrently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a critical section when you need timeouts, fairness policies, or the ability to abandon a lock attempt — things synchronized cannot express.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release in a finally block; an unreleased lock deadlocks every other waiter.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AccountLock.java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java.util.concurrent.locks.Lock;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java.util.concurrent.locks.ReentrantLock;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Account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Lock lock = new ReentrantLock();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double balance;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withdraw(double amt)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lock.lock();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(balance &gt;= amt) balance -= amt;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lock.unlock();         // always release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tryWithdraw(double amt) throws Exception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(lock.tryLock(2, TimeUnit.SECONDS))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 balance -= amt; return true;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finally { lock.unlock();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              // gave up waiting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semaph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BOUNDED ACCESS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Semaphore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set of permits; acquire() blocks when none remain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release() returns a permit, waking a waiting thread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a lock: can allow N concurrent holders, not just 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mode (FIFO) available via the constructor flag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concurrent access to a limited resource — a connection pool, a rate-limited external API, or a fixed number of worker slots.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Lock, permits can be released by a different thread than the one that acquired them.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ConnectionPool.java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java.util.concurrent.Semaphore;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ConnectionPool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Semaphore permits =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Semaphore(5, true);   // 5 slots, fair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useConnection() throws InterruptedException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permits.acquire();          // blocks if 5 are busy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queryDatabase();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permits.release();        // free the slot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tryUseConnection()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(permits.tryAcquire())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 queryDatabase(); return true;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finally { permits.release();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              // pool is full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b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RENDEZVOUS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CyclicBarrier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fixed group of threads wait for each other at a point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last thread arrives, all are released together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barrier action runs once, right before release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("cyclic") — the same barrier can be crossed repeatedly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parallel algorithms where every worker must finish phase N before any worker starts phase N+1 — e.g. parallel matrix computation or simulation steps.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CountDownLatch, which is single-use and not tied to a fixed party count.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ParallelPhaseDemo.java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java.util.concurrent.CyclicBarrier;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ParallelPhaseDemo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workers = 4;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CyclicBarrier barrier = new CyclicBarrier(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workers,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() -&gt; System.out.println("Phase complete!"));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workers; i++)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Thread(() -&gt;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computePartialResult();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barrier.await();  // wait for the other 3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catch (Exception e) { /* handle */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computeNextPhase();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}).start();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l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ONE-SHOT SIGNAL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CountDownLatch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 fixed count; countDown() decrements it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await() blocks until the count reaches zero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 — cannot be reset once it hits zero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tool for "wait until N things finish" or "start together"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 thread waiting for several worker threads to finish startup, or all workers waiting for one "go" signal before racing to begin.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reusable rendezvous where the count resets each round, use CyclicBarrier instead.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StartupGate.java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java.util.concurrent.CountDownLatch;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StartupGate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throws Exception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services = 3;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CountDownLatch ready = new CountDownLatch(services);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services; i++)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Thread(() -&gt;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initializeService();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ready.countDown();       // signal one done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}).start();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ready.await();               // block until all 3 ready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System.out.println("All services up — accepting traffic");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execu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MANAGED EXECUTION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ExecutorService &amp; CompletableFuture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 manages a thread pool so you never call new Thread()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submit() returns a Future you can wait on or cancel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chains async steps: thenApply, thenCombine, etc.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shutdown() the pool — it otherwise keeps the JVM alive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real-world concurrent workload: web request handling, parallel batch jobs, fan-out/fan-in calls to multiple services composed asynchronously.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Executors from java.util.concurrent.Executors or a custom ThreadPoolExecutor over spawning raw threads.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AsyncPipeline.java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ExecutorService pool = Executors.newFixedThreadPool(4);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CompletableFuture&lt;String&gt; future = CompletableFuture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.supplyAsync(() -&gt; fetchUser(id), pool)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.thenApply(user -&gt; user.getName().toUpperCase())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.exceptionally(ex -&gt; "UNKNOWN");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future.thenAccept(System.out::println);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Future&lt;Integer&gt; task = pool.submit(() -&gt;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computeExpensiveValue();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result = task.get(3, TimeUnit.SECONDS);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pool.shutdown();               // release the threads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concurren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THREAD-SAFE COLLECTIONS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ConcurrentHashMap &amp; BlockingQueue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463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ConcurrentHashMap: fine-grained locking, safe concurrent reads/writes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85416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computeIfAbsent() is atomic — no separate check-then-act race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700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BlockingQueue: put()/take() block when full/empty — built for producer/consumer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392424"/>
            <a:ext cx="109728" cy="109728"/>
          </a:xfrm>
          <a:prstGeom prst="ellipse">
            <a:avLst/>
          </a:prstGeom>
          <a:solidFill>
            <a:srgbClr val="ED8B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73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ArrayBlockingQueue, LinkedBlockingQueue, and priority variants available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151376"/>
            <a:ext cx="4663440" cy="2203704"/>
          </a:xfrm>
          <a:prstGeom prst="roundRect">
            <a:avLst>
              <a:gd name="adj" fmla="val 3320"/>
            </a:avLst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97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72000"/>
            <a:ext cx="42062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ConcurrentHashMap for shared caches, registries, or counters keyed by ID. BlockingQueue for handing work between producer and consumer threads without manual wait/notify.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349240" y="1536192"/>
            <a:ext cx="6382512" cy="4754880"/>
          </a:xfrm>
          <a:prstGeom prst="roundRect">
            <a:avLst>
              <a:gd name="adj" fmla="val 192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5733288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934456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/>
          <p:nvPr/>
        </p:nvSpPr>
        <p:spPr>
          <a:xfrm>
            <a:off x="9720072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ProducerConsumer.java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1920240"/>
            <a:ext cx="5925312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ConcurrentHashMap&lt;String, Integer&gt; cache = new ConcurrentHashMap&lt;&gt;();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cache.computeIfAbsent("views", k -&gt; 0);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cache.merge("views", 1, Integer::sum);   // atomic increment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BlockingQueue&lt;Task&gt; queue = new LinkedBlockingQueue&lt;&gt;(100);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Thread(() -&gt;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 queue.put(nextTask());   // blocks if full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}).start();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Thread(() -&gt;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 t = queue.take();               // blocks if empty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t.run();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4D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}).start();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deck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Tool, When?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8346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691640"/>
            <a:ext cx="42062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1691640"/>
            <a:ext cx="4233672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1691640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94560"/>
            <a:ext cx="28346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194560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ThreadLocal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91840" y="2194560"/>
            <a:ext cx="42062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194560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Per-thread isolated state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98080" y="2194560"/>
            <a:ext cx="4233672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5240" y="2194560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context, non-thread-safe helpers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2679192"/>
            <a:ext cx="2834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267919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AtomicInteger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91840" y="2679192"/>
            <a:ext cx="42062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29000" y="2679192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atomic updates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98080" y="2679192"/>
            <a:ext cx="4233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2679192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IDs, flags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163824"/>
            <a:ext cx="28346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3163824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ReentrantLock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91840" y="3163824"/>
            <a:ext cx="42062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3163824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explicit locking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498080" y="3163824"/>
            <a:ext cx="4233672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35240" y="316382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/ interruptible critical sections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3648456"/>
            <a:ext cx="2834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3648456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3291840" y="3648456"/>
            <a:ext cx="42062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3648456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concurrent access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498080" y="3648456"/>
            <a:ext cx="4233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35240" y="3648456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pools, rate limiting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7200" y="4133088"/>
            <a:ext cx="28346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4360" y="4133088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CyclicBarrier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3291840" y="4133088"/>
            <a:ext cx="42062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29000" y="4133088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rendezvous point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7498080" y="4133088"/>
            <a:ext cx="4233672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35240" y="4133088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parallel algorithms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457200" y="4617720"/>
            <a:ext cx="2834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4360" y="4617720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CountDownLatch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3291840" y="4617720"/>
            <a:ext cx="42062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29000" y="4617720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completion gate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7498080" y="4617720"/>
            <a:ext cx="4233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35240" y="4617720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Wait-for-startup, wait-for-N-tasks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457200" y="5102352"/>
            <a:ext cx="28346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" y="5102352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ExecutorService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3291840" y="5102352"/>
            <a:ext cx="4206240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29000" y="5102352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thread pool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498080" y="5102352"/>
            <a:ext cx="4233672" cy="484632"/>
          </a:xfrm>
          <a:prstGeom prst="rect">
            <a:avLst/>
          </a:prstGeom>
          <a:solidFill>
            <a:srgbClr val="EDF1F7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635240" y="5102352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task submission workload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457200" y="5586984"/>
            <a:ext cx="2834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94360" y="5586984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ConcurrentHashMap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3291840" y="5586984"/>
            <a:ext cx="42062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429000" y="5586984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map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7498080" y="5586984"/>
            <a:ext cx="423367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635240" y="5586984"/>
            <a:ext cx="3959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caches &amp; registries</a:t>
            </a:r>
            <a:endParaRPr lang="en-US" sz="1150" dirty="0"/>
          </a:p>
        </p:txBody>
      </p:sp>
      <p:sp>
        <p:nvSpPr>
          <p:cNvPr id="60" name="Text 5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Concurrency Utilities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21C3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21C3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121C32"/>
          </a:solidFill>
          <a:ln/>
        </p:spPr>
      </p:sp>
      <p:pic>
        <p:nvPicPr>
          <p:cNvPr id="5" name="Image 0" descr="/home/claude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042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Narrowest Tool That Fits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Atomics for single values, locks for critical sections, semaphores for bounded access, barriers/latches for coordination, and executors to tie it all together — reach for synchronized last, not first.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ED8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2026-09-04T01:01:23Z</dcterms:created>
  <dcterms:modified xsi:type="dcterms:W3CDTF">2026-09-04T01:01:23Z</dcterms:modified>
</cp:coreProperties>
</file>