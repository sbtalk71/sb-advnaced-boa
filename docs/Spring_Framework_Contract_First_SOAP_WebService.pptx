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Spring Framework – Contract-First SOAP Web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From WSDL/XSD design to Spring-WS implementation and SOAP message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What is contract-first SOAP?</a:t>
            </a:r>
          </a:p>
          <a:p>
            <a:pPr>
              <a:spcAft>
                <a:spcPts val="1000"/>
              </a:spcAft>
              <a:defRPr sz="2200"/>
            </a:pPr>
            <a:r>
              <a:t>WSDL and XSD as the service contract</a:t>
            </a:r>
          </a:p>
          <a:p>
            <a:pPr>
              <a:spcAft>
                <a:spcPts val="1000"/>
              </a:spcAft>
              <a:defRPr sz="2200"/>
            </a:pPr>
            <a:r>
              <a:t>Generating Java classes from the contract</a:t>
            </a:r>
          </a:p>
          <a:p>
            <a:pPr>
              <a:spcAft>
                <a:spcPts val="1000"/>
              </a:spcAft>
              <a:defRPr sz="2200"/>
            </a:pPr>
            <a:r>
              <a:t>Implementing the Spring-WS endpoint</a:t>
            </a:r>
          </a:p>
          <a:p>
            <a:pPr>
              <a:spcAft>
                <a:spcPts val="1000"/>
              </a:spcAft>
              <a:defRPr sz="2200"/>
            </a:pPr>
            <a:r>
              <a:t>Runtime SOAP request/response flow</a:t>
            </a:r>
          </a:p>
          <a:p>
            <a:pPr>
              <a:spcAft>
                <a:spcPts val="1000"/>
              </a:spcAft>
              <a:defRPr sz="2200"/>
            </a:pPr>
            <a:r>
              <a:t>Best practices and troubleshooting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What Does Contract-First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The service contract is designed before writing Java implementation code.</a:t>
            </a:r>
          </a:p>
          <a:p>
            <a:pPr>
              <a:spcAft>
                <a:spcPts val="1000"/>
              </a:spcAft>
              <a:defRPr sz="2000"/>
            </a:pPr>
            <a:r>
              <a:t>WSDL defines the service interface, operations, messages, bindings and endpoint.</a:t>
            </a:r>
          </a:p>
          <a:p>
            <a:pPr>
              <a:spcAft>
                <a:spcPts val="1000"/>
              </a:spcAft>
              <a:defRPr sz="2000"/>
            </a:pPr>
            <a:r>
              <a:t>XSD defines the XML request/response structure and data types.</a:t>
            </a:r>
          </a:p>
          <a:p>
            <a:pPr>
              <a:spcAft>
                <a:spcPts val="1000"/>
              </a:spcAft>
              <a:defRPr sz="2000"/>
            </a:pPr>
            <a:r>
              <a:t>Java classes are generated from the XML contract.</a:t>
            </a:r>
          </a:p>
          <a:p>
            <a:pPr>
              <a:spcAft>
                <a:spcPts val="1000"/>
              </a:spcAft>
              <a:defRPr sz="2000"/>
            </a:pPr>
            <a:r>
              <a:t>Spring-WS maps incoming XML messages to endpoint methods.</a:t>
            </a:r>
          </a:p>
          <a:p>
            <a:pPr>
              <a:spcAft>
                <a:spcPts val="1000"/>
              </a:spcAft>
              <a:defRPr sz="2000"/>
            </a:pPr>
            <a:r>
              <a:t>Key idea: XML contract → generated model → implementation → SOAP runtime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Contract-First Development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182880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Design XSD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0" y="2788920"/>
            <a:ext cx="4572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0" y="2286000"/>
            <a:ext cx="182880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Create WSDL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2788920"/>
            <a:ext cx="4572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0" y="2286000"/>
            <a:ext cx="182880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Generate Java</a:t>
            </a:r>
          </a:p>
          <a:p>
            <a:r>
              <a:t>classes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0" y="2788920"/>
            <a:ext cx="4572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15200" y="2286000"/>
            <a:ext cx="182880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Implement</a:t>
            </a:r>
          </a:p>
          <a:p>
            <a:r>
              <a:t>Endpoint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0" y="2788920"/>
            <a:ext cx="4572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601200" y="2286000"/>
            <a:ext cx="182880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Publish SOAP</a:t>
            </a:r>
          </a:p>
          <a:p>
            <a:r>
              <a:t>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XSD controls the XML data contract.</a:t>
            </a:r>
          </a:p>
          <a:p>
            <a:pPr>
              <a:spcAft>
                <a:spcPts val="1000"/>
              </a:spcAft>
              <a:defRPr sz="1800"/>
            </a:pPr>
            <a:r>
              <a:t>WSDL exposes operations and binds them to SOAP.</a:t>
            </a:r>
          </a:p>
          <a:p>
            <a:pPr>
              <a:spcAft>
                <a:spcPts val="1000"/>
              </a:spcAft>
              <a:defRPr sz="1800"/>
            </a:pPr>
            <a:r>
              <a:t>Generated classes prevent manual XML-to-Java model duplication.</a:t>
            </a:r>
          </a:p>
          <a:p>
            <a:pPr>
              <a:spcAft>
                <a:spcPts val="1000"/>
              </a:spcAft>
              <a:defRPr sz="1800"/>
            </a:pPr>
            <a:r>
              <a:t>Endpoint implementation focuses on business logic.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Spring-WS Contract-First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377440"/>
            <a:ext cx="16459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SOAP Client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2377440"/>
            <a:ext cx="16459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HTTP / SOAP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2148840"/>
            <a:ext cx="201168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MessageDispatcherServlet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2148840"/>
            <a:ext cx="192024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@Endpoint</a:t>
            </a:r>
          </a:p>
          <a:p>
            <a:r>
              <a:t>+ @PayloadRoot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2377440"/>
            <a:ext cx="16459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Business Service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03120" y="2834640"/>
            <a:ext cx="64008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389120" y="2834640"/>
            <a:ext cx="64008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040880" y="2834640"/>
            <a:ext cx="82296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784080" y="2834640"/>
            <a:ext cx="2743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41148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MessageDispatcherServlet receives the SOAP message.</a:t>
            </a:r>
          </a:p>
          <a:p>
            <a:pPr>
              <a:spcAft>
                <a:spcPts val="1000"/>
              </a:spcAft>
              <a:defRPr sz="1700"/>
            </a:pPr>
            <a:r>
              <a:t>Spring-WS selects an endpoint using the message payload QName.</a:t>
            </a:r>
          </a:p>
          <a:p>
            <a:pPr>
              <a:spcAft>
                <a:spcPts val="1000"/>
              </a:spcAft>
              <a:defRPr sz="1700"/>
            </a:pPr>
            <a:r>
              <a:t>Endpoint delegates to the service/business layer.</a:t>
            </a:r>
          </a:p>
          <a:p>
            <a:pPr>
              <a:spcAft>
                <a:spcPts val="1000"/>
              </a:spcAft>
              <a:defRPr sz="1700"/>
            </a:pPr>
            <a:r>
              <a:t>The response object is marshalled back into XML.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Contract Artifacts: XSD + WSDL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XSD example responsibility:</a:t>
            </a:r>
          </a:p>
          <a:p>
            <a:pPr lvl="1">
              <a:spcAft>
                <a:spcPts val="1000"/>
              </a:spcAft>
              <a:defRPr sz="1600"/>
            </a:pPr>
            <a:r>
              <a:t>Defines EmployeeRequest, EmployeeResponse and complex types.</a:t>
            </a:r>
          </a:p>
          <a:p>
            <a:pPr lvl="1">
              <a:spcAft>
                <a:spcPts val="1000"/>
              </a:spcAft>
              <a:defRPr sz="1600"/>
            </a:pPr>
            <a:r>
              <a:t>Controls element names, namespaces, types, occurrence and validation.</a:t>
            </a:r>
          </a:p>
          <a:p>
            <a:pPr>
              <a:spcAft>
                <a:spcPts val="1000"/>
              </a:spcAft>
              <a:defRPr sz="1900"/>
            </a:pPr>
            <a:r>
              <a:t>WSDL example responsibility:</a:t>
            </a:r>
          </a:p>
          <a:p>
            <a:pPr lvl="1">
              <a:spcAft>
                <a:spcPts val="1000"/>
              </a:spcAft>
              <a:defRPr sz="1600"/>
            </a:pPr>
            <a:r>
              <a:t>Defines getEmployee operation and input/output messages.</a:t>
            </a:r>
          </a:p>
          <a:p>
            <a:pPr lvl="1">
              <a:spcAft>
                <a:spcPts val="1000"/>
              </a:spcAft>
              <a:defRPr sz="1600"/>
            </a:pPr>
            <a:r>
              <a:t>Defines portType, binding and service endpoint.</a:t>
            </a:r>
          </a:p>
          <a:p>
            <a:pPr>
              <a:spcAft>
                <a:spcPts val="1000"/>
              </a:spcAft>
              <a:defRPr sz="1900"/>
            </a:pPr>
            <a:r>
              <a:t>Keep namespaces stable and meaningful; they are central to Spring-WS payload mapping.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Typical Spring Boot 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src/main/resources/</a:t>
            </a:r>
          </a:p>
          <a:p>
            <a:pPr lvl="1">
              <a:spcAft>
                <a:spcPts val="1000"/>
              </a:spcAft>
              <a:defRPr sz="1500"/>
            </a:pPr>
            <a:r>
              <a:t>wsdl/employee.wsdl</a:t>
            </a:r>
          </a:p>
          <a:p>
            <a:pPr lvl="1">
              <a:spcAft>
                <a:spcPts val="1000"/>
              </a:spcAft>
              <a:defRPr sz="1500"/>
            </a:pPr>
            <a:r>
              <a:t>xsd/employee.xsd</a:t>
            </a:r>
          </a:p>
          <a:p>
            <a:pPr>
              <a:spcAft>
                <a:spcPts val="1000"/>
              </a:spcAft>
              <a:defRPr sz="1800"/>
            </a:pPr>
            <a:r>
              <a:t>src/main/java/</a:t>
            </a:r>
          </a:p>
          <a:p>
            <a:pPr lvl="1">
              <a:spcAft>
                <a:spcPts val="1000"/>
              </a:spcAft>
              <a:defRPr sz="1500"/>
            </a:pPr>
            <a:r>
              <a:t>config/WebServiceConfig.java</a:t>
            </a:r>
          </a:p>
          <a:p>
            <a:pPr lvl="1">
              <a:spcAft>
                <a:spcPts val="1000"/>
              </a:spcAft>
              <a:defRPr sz="1500"/>
            </a:pPr>
            <a:r>
              <a:t>endpoint/EmployeeEndpoint.java</a:t>
            </a:r>
          </a:p>
          <a:p>
            <a:pPr lvl="1">
              <a:spcAft>
                <a:spcPts val="1000"/>
              </a:spcAft>
              <a:defRPr sz="1500"/>
            </a:pPr>
            <a:r>
              <a:t>service/EmployeeService.java</a:t>
            </a:r>
          </a:p>
          <a:p>
            <a:pPr lvl="1">
              <a:spcAft>
                <a:spcPts val="1000"/>
              </a:spcAft>
              <a:defRPr sz="1500"/>
            </a:pPr>
            <a:r>
              <a:t>generated/... JAXB classes</a:t>
            </a:r>
          </a:p>
          <a:p>
            <a:pPr>
              <a:spcAft>
                <a:spcPts val="1000"/>
              </a:spcAft>
              <a:defRPr sz="1800"/>
            </a:pPr>
            <a:r>
              <a:t>pom.xml / build.gradle</a:t>
            </a:r>
          </a:p>
          <a:p>
            <a:pPr>
              <a:spcAft>
                <a:spcPts val="1000"/>
              </a:spcAft>
              <a:defRPr sz="1800"/>
            </a:pPr>
            <a:r>
              <a:t>Important: generated classes should normally be treated as build output, not handwritten domain code.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Generate Java Classes from XSD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Use JAXB/XJC tooling during the build.</a:t>
            </a:r>
          </a:p>
          <a:p>
            <a:pPr>
              <a:spcAft>
                <a:spcPts val="1000"/>
              </a:spcAft>
              <a:defRPr sz="1900"/>
            </a:pPr>
            <a:r>
              <a:t>Typical Maven approach: JAXB2/XJC plugin generates classes into target/generated-sources.</a:t>
            </a:r>
          </a:p>
          <a:p>
            <a:pPr>
              <a:spcAft>
                <a:spcPts val="1000"/>
              </a:spcAft>
              <a:defRPr sz="1900"/>
            </a:pPr>
            <a:r>
              <a:t>Generated classes commonly include @XmlRootElement, @XmlType and JAXB annotations.</a:t>
            </a:r>
          </a:p>
          <a:p>
            <a:pPr>
              <a:spcAft>
                <a:spcPts val="1000"/>
              </a:spcAft>
              <a:defRPr sz="1900"/>
            </a:pPr>
            <a:r>
              <a:t>Spring-WS can use JAXB marshalling/unmarshalling for these classes.</a:t>
            </a:r>
          </a:p>
          <a:p>
            <a:pPr>
              <a:spcAft>
                <a:spcPts val="1000"/>
              </a:spcAft>
              <a:defRPr sz="1900"/>
            </a:pPr>
            <a:r>
              <a:t>Benefit: the Java model follows the XML contract instead of becoming the contract.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Spring-WS Endpoint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@Endpoint marks a class as a SOAP endpoint.</a:t>
            </a:r>
          </a:p>
          <a:p>
            <a:pPr>
              <a:spcAft>
                <a:spcPts val="1000"/>
              </a:spcAft>
              <a:defRPr sz="1900"/>
            </a:pPr>
            <a:r>
              <a:t>@PayloadRoot(namespace = ..., localPart = ...) maps the XML payload to a method.</a:t>
            </a:r>
          </a:p>
          <a:p>
            <a:pPr>
              <a:spcAft>
                <a:spcPts val="1000"/>
              </a:spcAft>
              <a:defRPr sz="1900"/>
            </a:pPr>
            <a:r>
              <a:t>The method receives a generated request object and returns a generated response object.</a:t>
            </a:r>
          </a:p>
          <a:p>
            <a:pPr>
              <a:spcAft>
                <a:spcPts val="1000"/>
              </a:spcAft>
              <a:defRPr sz="1900"/>
            </a:pPr>
            <a:r>
              <a:t>Business logic should remain in a service layer rather than inside the endpoint.</a:t>
            </a:r>
          </a:p>
          <a:p>
            <a:pPr>
              <a:spcAft>
                <a:spcPts val="1000"/>
              </a:spcAft>
              <a:defRPr sz="1900"/>
            </a:pPr>
            <a:r>
              <a:t>Typical pattern:</a:t>
            </a:r>
          </a:p>
          <a:p>
            <a:pPr lvl="1">
              <a:spcAft>
                <a:spcPts val="1000"/>
              </a:spcAft>
              <a:defRPr sz="1600"/>
            </a:pPr>
            <a:r>
              <a:t>SOAP XML → JAXB request → @Endpoint → Service → JAXB response → SOAP XML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Runtime SOAP Request/Response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463040"/>
            <a:ext cx="14173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Client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691640" y="1874519"/>
            <a:ext cx="41148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103120" y="1463040"/>
            <a:ext cx="14173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HTTP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520439" y="1874519"/>
            <a:ext cx="2286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749039" y="1463040"/>
            <a:ext cx="14173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SOAP</a:t>
            </a:r>
          </a:p>
          <a:p>
            <a:r>
              <a:t>Message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66359" y="1874519"/>
            <a:ext cx="502921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669280" y="1463040"/>
            <a:ext cx="14173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Spring-WS</a:t>
            </a:r>
          </a:p>
          <a:p>
            <a:r>
              <a:t>Servlet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086600" y="1874519"/>
            <a:ext cx="6858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772400" y="1463040"/>
            <a:ext cx="14173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Endpoint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89720" y="1874519"/>
            <a:ext cx="5029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92640" y="1463040"/>
            <a:ext cx="14173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0" y="3657600"/>
            <a:ext cx="14173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Service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9189720" y="4069080"/>
            <a:ext cx="5029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3657600"/>
            <a:ext cx="14173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Endpoint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7086600" y="4069080"/>
            <a:ext cx="6858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669280" y="3657600"/>
            <a:ext cx="14173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Marshaller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5166359" y="4069080"/>
            <a:ext cx="502921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749039" y="3657600"/>
            <a:ext cx="14173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SOAP</a:t>
            </a:r>
          </a:p>
          <a:p>
            <a:r>
              <a:t>Response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3520439" y="4069080"/>
            <a:ext cx="2286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103120" y="3657600"/>
            <a:ext cx="14173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HTTP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691640" y="4069080"/>
            <a:ext cx="41148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74320" y="3657600"/>
            <a:ext cx="14173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Client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937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Inbound: HTTP → SOAP envelope → payload QName lookup → unmarshalling → endpoint.</a:t>
            </a:r>
          </a:p>
          <a:p>
            <a:pPr>
              <a:spcAft>
                <a:spcPts val="1000"/>
              </a:spcAft>
              <a:defRPr sz="1600"/>
            </a:pPr>
            <a:r>
              <a:t>Outbound: endpoint result → marshalling → SOAP envelope → HTTP response.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Detailed Message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1. Client sends SOAP envelope over HTTP/HTTPS.</a:t>
            </a:r>
          </a:p>
          <a:p>
            <a:pPr>
              <a:spcAft>
                <a:spcPts val="1000"/>
              </a:spcAft>
              <a:defRPr sz="1800"/>
            </a:pPr>
            <a:r>
              <a:t>2. MessageDispatcherServlet accepts the request.</a:t>
            </a:r>
          </a:p>
          <a:p>
            <a:pPr>
              <a:spcAft>
                <a:spcPts val="1000"/>
              </a:spcAft>
              <a:defRPr sz="1800"/>
            </a:pPr>
            <a:r>
              <a:t>3. SOAP message is parsed and payload is identified.</a:t>
            </a:r>
          </a:p>
          <a:p>
            <a:pPr>
              <a:spcAft>
                <a:spcPts val="1000"/>
              </a:spcAft>
              <a:defRPr sz="1800"/>
            </a:pPr>
            <a:r>
              <a:t>4. EndpointMapping finds the method using namespace + localPart.</a:t>
            </a:r>
          </a:p>
          <a:p>
            <a:pPr>
              <a:spcAft>
                <a:spcPts val="1000"/>
              </a:spcAft>
              <a:defRPr sz="1800"/>
            </a:pPr>
            <a:r>
              <a:t>5. Message receiver/marshaller converts XML into a Java object.</a:t>
            </a:r>
          </a:p>
          <a:p>
            <a:pPr>
              <a:spcAft>
                <a:spcPts val="1000"/>
              </a:spcAft>
              <a:defRPr sz="1800"/>
            </a:pPr>
            <a:r>
              <a:t>6. Endpoint calls the business service.</a:t>
            </a:r>
          </a:p>
          <a:p>
            <a:pPr>
              <a:spcAft>
                <a:spcPts val="1000"/>
              </a:spcAft>
              <a:defRPr sz="1800"/>
            </a:pPr>
            <a:r>
              <a:t>7. Response object is marshalled to XML.</a:t>
            </a:r>
          </a:p>
          <a:p>
            <a:pPr>
              <a:spcAft>
                <a:spcPts val="1000"/>
              </a:spcAft>
              <a:defRPr sz="1800"/>
            </a:pPr>
            <a:r>
              <a:t>8. Spring-WS creates the SOAP response and sends HTTP 200 or a SOAP Fault.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Core Spring-WS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MessageDispatcherServlet: front controller for SOAP requests.</a:t>
            </a:r>
          </a:p>
          <a:p>
            <a:pPr>
              <a:spcAft>
                <a:spcPts val="1000"/>
              </a:spcAft>
              <a:defRPr sz="1800"/>
            </a:pPr>
            <a:r>
              <a:t>DefaultWsdl11Definition: exposes a WSDL generated from an XSD, when using dynamic WSDL generation.</a:t>
            </a:r>
          </a:p>
          <a:p>
            <a:pPr>
              <a:spcAft>
                <a:spcPts val="1000"/>
              </a:spcAft>
              <a:defRPr sz="1800"/>
            </a:pPr>
            <a:r>
              <a:t>XsdSchema: loads the XML schema used for contract validation/WSDL generation.</a:t>
            </a:r>
          </a:p>
          <a:p>
            <a:pPr>
              <a:spcAft>
                <a:spcPts val="1000"/>
              </a:spcAft>
              <a:defRPr sz="1800"/>
            </a:pPr>
            <a:r>
              <a:t>Jaxb2Marshaller: converts generated JAXB objects ↔ XML.</a:t>
            </a:r>
          </a:p>
          <a:p>
            <a:pPr>
              <a:spcAft>
                <a:spcPts val="1000"/>
              </a:spcAft>
              <a:defRPr sz="1800"/>
            </a:pPr>
            <a:r>
              <a:t>WebServiceConfigurer / endpoint mappings: connect the runtime infrastructure.</a:t>
            </a:r>
          </a:p>
          <a:p>
            <a:pPr>
              <a:spcAft>
                <a:spcPts val="1000"/>
              </a:spcAft>
              <a:defRPr sz="1800"/>
            </a:pPr>
            <a:r>
              <a:t>Common endpoint URL: /ws or /services/*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Where XML Schema Validation 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2011680"/>
            <a:ext cx="16459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SOAP</a:t>
            </a:r>
          </a:p>
          <a:p>
            <a:r>
              <a:t>Request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2011680"/>
            <a:ext cx="16459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XML Schema</a:t>
            </a:r>
          </a:p>
          <a:p>
            <a:r>
              <a:t>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2011680"/>
            <a:ext cx="16459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Unmarshal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2011680"/>
            <a:ext cx="16459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@Endpoint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2011680"/>
            <a:ext cx="16459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Business</a:t>
            </a:r>
          </a:p>
          <a:p>
            <a:r>
              <a:t>Logic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11680" y="2468880"/>
            <a:ext cx="54864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06240" y="2468880"/>
            <a:ext cx="54864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00800" y="2468880"/>
            <a:ext cx="54864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95360" y="2468880"/>
            <a:ext cx="54864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3840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Validation checks whether the XML payload conforms to the contract.</a:t>
            </a:r>
          </a:p>
          <a:p>
            <a:pPr>
              <a:spcAft>
                <a:spcPts val="1000"/>
              </a:spcAft>
              <a:defRPr sz="1800"/>
            </a:pPr>
            <a:r>
              <a:t>Invalid XML can be rejected before business processing.</a:t>
            </a:r>
          </a:p>
          <a:p>
            <a:pPr>
              <a:spcAft>
                <a:spcPts val="1000"/>
              </a:spcAft>
              <a:defRPr sz="1800"/>
            </a:pPr>
            <a:r>
              <a:t>Schema validation is especially valuable for strict enterprise integrations.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SOAP Fault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Business or validation errors should be represented as SOAP Faults, not arbitrary JSON/error pages.</a:t>
            </a:r>
          </a:p>
          <a:p>
            <a:pPr>
              <a:spcAft>
                <a:spcPts val="1000"/>
              </a:spcAft>
              <a:defRPr sz="1900"/>
            </a:pPr>
            <a:r>
              <a:t>Spring-WS supports exception resolvers and fault handling.</a:t>
            </a:r>
          </a:p>
          <a:p>
            <a:pPr>
              <a:spcAft>
                <a:spcPts val="1000"/>
              </a:spcAft>
              <a:defRPr sz="1900"/>
            </a:pPr>
            <a:r>
              <a:t>Typical categories:</a:t>
            </a:r>
          </a:p>
          <a:p>
            <a:pPr lvl="1">
              <a:spcAft>
                <a:spcPts val="1000"/>
              </a:spcAft>
              <a:defRPr sz="1600"/>
            </a:pPr>
            <a:r>
              <a:t>Validation fault – request does not match XSD.</a:t>
            </a:r>
          </a:p>
          <a:p>
            <a:pPr lvl="1">
              <a:spcAft>
                <a:spcPts val="1000"/>
              </a:spcAft>
              <a:defRPr sz="1600"/>
            </a:pPr>
            <a:r>
              <a:t>Business fault – requested operation cannot be completed.</a:t>
            </a:r>
          </a:p>
          <a:p>
            <a:pPr lvl="1">
              <a:spcAft>
                <a:spcPts val="1000"/>
              </a:spcAft>
              <a:defRPr sz="1600"/>
            </a:pPr>
            <a:r>
              <a:t>Technical fault – unexpected server/infrastructure problem.</a:t>
            </a:r>
          </a:p>
          <a:p>
            <a:pPr>
              <a:spcAft>
                <a:spcPts val="1000"/>
              </a:spcAft>
              <a:defRPr sz="1900"/>
            </a:pPr>
            <a:r>
              <a:t>Clients should handle SOAP Fault consistently.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Contract-First SOAP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Design stable, versionable XSDs and namespaces.</a:t>
            </a:r>
          </a:p>
          <a:p>
            <a:pPr>
              <a:spcAft>
                <a:spcPts val="1000"/>
              </a:spcAft>
              <a:defRPr sz="1700"/>
            </a:pPr>
            <a:r>
              <a:t>Keep WSDL/XSD under source control.</a:t>
            </a:r>
          </a:p>
          <a:p>
            <a:pPr>
              <a:spcAft>
                <a:spcPts val="1000"/>
              </a:spcAft>
              <a:defRPr sz="1700"/>
            </a:pPr>
            <a:r>
              <a:t>Generate Java classes during the build.</a:t>
            </a:r>
          </a:p>
          <a:p>
            <a:pPr>
              <a:spcAft>
                <a:spcPts val="1000"/>
              </a:spcAft>
              <a:defRPr sz="1700"/>
            </a:pPr>
            <a:r>
              <a:t>Do not expose persistence entities directly as the XML contract.</a:t>
            </a:r>
          </a:p>
          <a:p>
            <a:pPr>
              <a:spcAft>
                <a:spcPts val="1000"/>
              </a:spcAft>
              <a:defRPr sz="1700"/>
            </a:pPr>
            <a:r>
              <a:t>Keep endpoint classes thin; put business logic in services.</a:t>
            </a:r>
          </a:p>
          <a:p>
            <a:pPr>
              <a:spcAft>
                <a:spcPts val="1000"/>
              </a:spcAft>
              <a:defRPr sz="1700"/>
            </a:pPr>
            <a:r>
              <a:t>Validate incoming XML where appropriate.</a:t>
            </a:r>
          </a:p>
          <a:p>
            <a:pPr>
              <a:spcAft>
                <a:spcPts val="1000"/>
              </a:spcAft>
              <a:defRPr sz="1700"/>
            </a:pPr>
            <a:r>
              <a:t>Use HTTPS, authentication and appropriate WS-* security requirements.</a:t>
            </a:r>
          </a:p>
          <a:p>
            <a:pPr>
              <a:spcAft>
                <a:spcPts val="1000"/>
              </a:spcAft>
              <a:defRPr sz="1700"/>
            </a:pPr>
            <a:r>
              <a:t>Configure connection/read timeouts on SOAP clients.</a:t>
            </a:r>
          </a:p>
          <a:p>
            <a:pPr>
              <a:spcAft>
                <a:spcPts val="1000"/>
              </a:spcAft>
              <a:defRPr sz="1700"/>
            </a:pPr>
            <a:r>
              <a:t>Log correlation IDs and key SOAP metadata; avoid logging sensitive payloads.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14. SOAP Performance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First-call latency can be higher due to JVM/JIT warm-up, connection establishment, DNS/TLS setup, WSDL/schema loading or lazy initialization.</a:t>
            </a:r>
          </a:p>
          <a:p>
            <a:pPr>
              <a:spcAft>
                <a:spcPts val="1000"/>
              </a:spcAft>
              <a:defRPr sz="1800"/>
            </a:pPr>
            <a:r>
              <a:t>Reuse HTTP connections and configure sensible connection pools.</a:t>
            </a:r>
          </a:p>
          <a:p>
            <a:pPr>
              <a:spcAft>
                <a:spcPts val="1000"/>
              </a:spcAft>
              <a:defRPr sz="1800"/>
            </a:pPr>
            <a:r>
              <a:t>Reuse WebServiceTemplate and marshaller instances.</a:t>
            </a:r>
          </a:p>
          <a:p>
            <a:pPr>
              <a:spcAft>
                <a:spcPts val="1000"/>
              </a:spcAft>
              <a:defRPr sz="1800"/>
            </a:pPr>
            <a:r>
              <a:t>Avoid downloading WSDL/XSD repeatedly at runtime.</a:t>
            </a:r>
          </a:p>
          <a:p>
            <a:pPr>
              <a:spcAft>
                <a:spcPts val="1000"/>
              </a:spcAft>
              <a:defRPr sz="1800"/>
            </a:pPr>
            <a:r>
              <a:t>Keep XML payloads reasonably small; avoid unnecessary nested structures.</a:t>
            </a:r>
          </a:p>
          <a:p>
            <a:pPr>
              <a:spcAft>
                <a:spcPts val="1000"/>
              </a:spcAft>
              <a:defRPr sz="1800"/>
            </a:pPr>
            <a:r>
              <a:t>Measure separately: client overhead, network, server processing, marshalling and database time.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15. Contract-First vs Code-First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Contract-first:</a:t>
            </a:r>
          </a:p>
          <a:p>
            <a:pPr lvl="1">
              <a:spcAft>
                <a:spcPts val="1000"/>
              </a:spcAft>
              <a:defRPr sz="1500"/>
            </a:pPr>
            <a:r>
              <a:t>XML/WSDL/XSD is the source of truth.</a:t>
            </a:r>
          </a:p>
          <a:p>
            <a:pPr lvl="1">
              <a:spcAft>
                <a:spcPts val="1000"/>
              </a:spcAft>
              <a:defRPr sz="1500"/>
            </a:pPr>
            <a:r>
              <a:t>Best suited to enterprise integration and independently developed clients.</a:t>
            </a:r>
          </a:p>
          <a:p>
            <a:pPr lvl="1">
              <a:spcAft>
                <a:spcPts val="1000"/>
              </a:spcAft>
              <a:defRPr sz="1500"/>
            </a:pPr>
            <a:r>
              <a:t>Promotes stable interoperability and explicit schemas.</a:t>
            </a:r>
          </a:p>
          <a:p>
            <a:pPr>
              <a:spcAft>
                <a:spcPts val="1000"/>
              </a:spcAft>
              <a:defRPr sz="1800"/>
            </a:pPr>
            <a:r>
              <a:t>Code-first:</a:t>
            </a:r>
          </a:p>
          <a:p>
            <a:pPr lvl="1">
              <a:spcAft>
                <a:spcPts val="1000"/>
              </a:spcAft>
              <a:defRPr sz="1500"/>
            </a:pPr>
            <a:r>
              <a:t>Java classes/services are designed first and the contract is derived.</a:t>
            </a:r>
          </a:p>
          <a:p>
            <a:pPr lvl="1">
              <a:spcAft>
                <a:spcPts val="1000"/>
              </a:spcAft>
              <a:defRPr sz="1500"/>
            </a:pPr>
            <a:r>
              <a:t>Can be convenient for Java-centric systems.</a:t>
            </a:r>
          </a:p>
          <a:p>
            <a:pPr>
              <a:spcAft>
                <a:spcPts val="1000"/>
              </a:spcAft>
              <a:defRPr sz="1800"/>
            </a:pPr>
            <a:r>
              <a:t>For SOAP integrations with external organizations, contract-first is often the safer choice.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16. End-to-End Picture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097280"/>
            <a:ext cx="2743200" cy="56692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1. XSD</a:t>
            </a:r>
          </a:p>
          <a:p>
            <a:r>
              <a:t>Data contract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194560" y="1664207"/>
            <a:ext cx="0" cy="118873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22960" y="1783080"/>
            <a:ext cx="2743200" cy="56692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2. WSDL</a:t>
            </a:r>
          </a:p>
          <a:p>
            <a:r>
              <a:t>Service contract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94560" y="2350008"/>
            <a:ext cx="0" cy="118872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2468880"/>
            <a:ext cx="2743200" cy="56692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3. JAXB</a:t>
            </a:r>
          </a:p>
          <a:p>
            <a:r>
              <a:t>Generate Java model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3035808"/>
            <a:ext cx="0" cy="118872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22960" y="3154680"/>
            <a:ext cx="2743200" cy="56692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4. Spring-WS</a:t>
            </a:r>
          </a:p>
          <a:p>
            <a:r>
              <a:t>Configure servlet + marshaller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94560" y="3721608"/>
            <a:ext cx="0" cy="118872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3840480"/>
            <a:ext cx="2743200" cy="56692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5. @Endpoint</a:t>
            </a:r>
          </a:p>
          <a:p>
            <a:r>
              <a:t>Map payload to method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94560" y="4407408"/>
            <a:ext cx="0" cy="118872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2960" y="4526280"/>
            <a:ext cx="2743200" cy="56692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6. Service</a:t>
            </a:r>
          </a:p>
          <a:p>
            <a:r>
              <a:t>Execute business logic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94560" y="5093208"/>
            <a:ext cx="0" cy="118872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2960" y="5212080"/>
            <a:ext cx="2743200" cy="56692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7. SOAP</a:t>
            </a:r>
          </a:p>
          <a:p>
            <a:r>
              <a:t>Marshal response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194560" y="5779008"/>
            <a:ext cx="0" cy="118872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206240" y="1828800"/>
            <a:ext cx="7132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The contract remains the stable boundary between provider and consumer.</a:t>
            </a:r>
          </a:p>
          <a:p>
            <a:pPr>
              <a:spcAft>
                <a:spcPts val="1000"/>
              </a:spcAft>
              <a:defRPr sz="2000"/>
            </a:pPr>
            <a:r>
              <a:t>Spring-WS supplies the infrastructure that turns that XML contract into executable Java behavior.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17. Suggested Hands-On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1. Create employee.xsd with EmployeeRequest and EmployeeResponse.</a:t>
            </a:r>
          </a:p>
          <a:p>
            <a:pPr>
              <a:spcAft>
                <a:spcPts val="1000"/>
              </a:spcAft>
              <a:defRPr sz="1800"/>
            </a:pPr>
            <a:r>
              <a:t>2. Create or generate employee.wsdl.</a:t>
            </a:r>
          </a:p>
          <a:p>
            <a:pPr>
              <a:spcAft>
                <a:spcPts val="1000"/>
              </a:spcAft>
              <a:defRPr sz="1800"/>
            </a:pPr>
            <a:r>
              <a:t>3. Generate JAXB classes using Maven.</a:t>
            </a:r>
          </a:p>
          <a:p>
            <a:pPr>
              <a:spcAft>
                <a:spcPts val="1000"/>
              </a:spcAft>
              <a:defRPr sz="1800"/>
            </a:pPr>
            <a:r>
              <a:t>4. Create Spring Boot + Spring-WS application.</a:t>
            </a:r>
          </a:p>
          <a:p>
            <a:pPr>
              <a:spcAft>
                <a:spcPts val="1000"/>
              </a:spcAft>
              <a:defRPr sz="1800"/>
            </a:pPr>
            <a:r>
              <a:t>5. Configure MessageDispatcherServlet and JAXB marshaller.</a:t>
            </a:r>
          </a:p>
          <a:p>
            <a:pPr>
              <a:spcAft>
                <a:spcPts val="1000"/>
              </a:spcAft>
              <a:defRPr sz="1800"/>
            </a:pPr>
            <a:r>
              <a:t>6. Implement EmployeeEndpoint using @PayloadRoot.</a:t>
            </a:r>
          </a:p>
          <a:p>
            <a:pPr>
              <a:spcAft>
                <a:spcPts val="1000"/>
              </a:spcAft>
              <a:defRPr sz="1800"/>
            </a:pPr>
            <a:r>
              <a:t>7. Test with SoapUI/curl.</a:t>
            </a:r>
          </a:p>
          <a:p>
            <a:pPr>
              <a:spcAft>
                <a:spcPts val="1000"/>
              </a:spcAft>
              <a:defRPr sz="1800"/>
            </a:pPr>
            <a:r>
              <a:t>8. Add schema validation and SOAP Fault handling.</a:t>
            </a:r>
          </a:p>
          <a:p>
            <a:pPr>
              <a:spcAft>
                <a:spcPts val="1000"/>
              </a:spcAft>
              <a:defRPr sz="1800"/>
            </a:pPr>
            <a:r>
              <a:t>9. Measure first-call vs subsequent-call latency.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18.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Contract-first means WSDL/XSD drives the service design.</a:t>
            </a:r>
          </a:p>
          <a:p>
            <a:pPr>
              <a:spcAft>
                <a:spcPts val="1000"/>
              </a:spcAft>
              <a:defRPr sz="2000"/>
            </a:pPr>
            <a:r>
              <a:t>XSD defines the XML data structures; WSDL defines the service interface and SOAP binding.</a:t>
            </a:r>
          </a:p>
          <a:p>
            <a:pPr>
              <a:spcAft>
                <a:spcPts val="1000"/>
              </a:spcAft>
              <a:defRPr sz="2000"/>
            </a:pPr>
            <a:r>
              <a:t>Spring-WS uses MessageDispatcherServlet + endpoint mappings + marshalling.</a:t>
            </a:r>
          </a:p>
          <a:p>
            <a:pPr>
              <a:spcAft>
                <a:spcPts val="1000"/>
              </a:spcAft>
              <a:defRPr sz="2000"/>
            </a:pPr>
            <a:r>
              <a:t>@PayloadRoot is a key mechanism for mapping SOAP payloads to endpoint methods.</a:t>
            </a:r>
          </a:p>
          <a:p>
            <a:pPr>
              <a:spcAft>
                <a:spcPts val="1000"/>
              </a:spcAft>
              <a:defRPr sz="2000"/>
            </a:pPr>
            <a:r>
              <a:t>Keep endpoint, business logic and data access responsibilities separate.</a:t>
            </a:r>
          </a:p>
          <a:p>
            <a:pPr>
              <a:spcAft>
                <a:spcPts val="1000"/>
              </a:spcAft>
              <a:defRPr sz="2000"/>
            </a:pPr>
            <a:r>
              <a:t>Use validation, fault handling, security and timeout configuration for production SOAP 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